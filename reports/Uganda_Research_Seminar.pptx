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cae079d68e48ab" /><Relationship Type="http://schemas.openxmlformats.org/officeDocument/2006/relationships/extended-properties" Target="/docProps/app.xml" Id="Rb5ea2e532caf4e11" /><Relationship Type="http://schemas.openxmlformats.org/officeDocument/2006/relationships/officeDocument" Target="/ppt/presentation.xml" Id="R9419e250618a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35325fd90e4bac"/>
  </p:sldMasterIdLst>
  <p:notesMasterIdLst>
    <p:notesMasterId xmlns:r="http://schemas.openxmlformats.org/officeDocument/2006/relationships" r:id="R1d934c52a4ca49cc"/>
  </p:notesMasterIdLst>
  <p:sldIdLst>
    <p:sldId xmlns:r="http://schemas.openxmlformats.org/officeDocument/2006/relationships" id="256" r:id="Rda380b50b4c44a4b"/>
    <p:sldId xmlns:r="http://schemas.openxmlformats.org/officeDocument/2006/relationships" id="257" r:id="R4264c31bb6c3406e"/>
    <p:sldId xmlns:r="http://schemas.openxmlformats.org/officeDocument/2006/relationships" id="258" r:id="R242ce8b4fbfb4d34"/>
    <p:sldId xmlns:r="http://schemas.openxmlformats.org/officeDocument/2006/relationships" id="259" r:id="R81f8492b1a88450b"/>
    <p:sldId xmlns:r="http://schemas.openxmlformats.org/officeDocument/2006/relationships" id="260" r:id="Rbf6bb6fa7b444346"/>
    <p:sldId xmlns:r="http://schemas.openxmlformats.org/officeDocument/2006/relationships" id="261" r:id="R491338bf35694f7a"/>
    <p:sldId xmlns:r="http://schemas.openxmlformats.org/officeDocument/2006/relationships" id="262" r:id="R046e21e9f96f41f7"/>
    <p:sldId xmlns:r="http://schemas.openxmlformats.org/officeDocument/2006/relationships" id="263" r:id="R18ea5aba1ab641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3176a44a444f53" /><Relationship Type="http://schemas.openxmlformats.org/officeDocument/2006/relationships/slideMaster" Target="/ppt/slideMasters/slideMaster1.xml" Id="Rdb35325fd90e4bac" /><Relationship Type="http://schemas.openxmlformats.org/officeDocument/2006/relationships/notesMaster" Target="/ppt/notesMasters/notesMaster1.xml" Id="R1d934c52a4ca49cc" /><Relationship Type="http://schemas.openxmlformats.org/officeDocument/2006/relationships/presProps" Target="/ppt/presProps.xml" Id="Rdf898739f69b483c" /><Relationship Type="http://schemas.openxmlformats.org/officeDocument/2006/relationships/tableStyles" Target="/ppt/tableStyles.xml" Id="R0f526a1f2f8845b1" /><Relationship Type="http://schemas.openxmlformats.org/officeDocument/2006/relationships/slide" Target="/ppt/slides/slide1.xml" Id="Rda380b50b4c44a4b" /><Relationship Type="http://schemas.openxmlformats.org/officeDocument/2006/relationships/slide" Target="/ppt/slides/slide2.xml" Id="R4264c31bb6c3406e" /><Relationship Type="http://schemas.openxmlformats.org/officeDocument/2006/relationships/slide" Target="/ppt/slides/slide3.xml" Id="R242ce8b4fbfb4d34" /><Relationship Type="http://schemas.openxmlformats.org/officeDocument/2006/relationships/slide" Target="/ppt/slides/slide4.xml" Id="R81f8492b1a88450b" /><Relationship Type="http://schemas.openxmlformats.org/officeDocument/2006/relationships/slide" Target="/ppt/slides/slide5.xml" Id="Rbf6bb6fa7b444346" /><Relationship Type="http://schemas.openxmlformats.org/officeDocument/2006/relationships/slide" Target="/ppt/slides/slide6.xml" Id="R491338bf35694f7a" /><Relationship Type="http://schemas.openxmlformats.org/officeDocument/2006/relationships/slide" Target="/ppt/slides/slide7.xml" Id="R046e21e9f96f41f7" /><Relationship Type="http://schemas.openxmlformats.org/officeDocument/2006/relationships/slide" Target="/ppt/slides/slide8.xml" Id="R18ea5aba1ab641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c3b5458c1b42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ac729e8d6d41be" /><Relationship Type="http://schemas.openxmlformats.org/officeDocument/2006/relationships/notesMaster" Target="/ppt/notesMasters/notesMaster1.xml" Id="R0462ad3188d841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912c5fb9c24270" /><Relationship Type="http://schemas.openxmlformats.org/officeDocument/2006/relationships/notesMaster" Target="/ppt/notesMasters/notesMaster1.xml" Id="R3602dd73352d44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6e52c4c39544ea" /><Relationship Type="http://schemas.openxmlformats.org/officeDocument/2006/relationships/notesMaster" Target="/ppt/notesMasters/notesMaster1.xml" Id="Rfeac6ad10d5440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31d67d2ba244a1" /><Relationship Type="http://schemas.openxmlformats.org/officeDocument/2006/relationships/notesMaster" Target="/ppt/notesMasters/notesMaster1.xml" Id="R0d93b69161e14e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59a787c93641a2" /><Relationship Type="http://schemas.openxmlformats.org/officeDocument/2006/relationships/notesMaster" Target="/ppt/notesMasters/notesMaster1.xml" Id="R985ff7ba1fcd4b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5378b392a74c87" /><Relationship Type="http://schemas.openxmlformats.org/officeDocument/2006/relationships/notesMaster" Target="/ppt/notesMasters/notesMaster1.xml" Id="Raf12e30875144f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9d6abf3fc4461b" /><Relationship Type="http://schemas.openxmlformats.org/officeDocument/2006/relationships/notesMaster" Target="/ppt/notesMasters/notesMaster1.xml" Id="Rf83ad35c413442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caa749f1214168" /><Relationship Type="http://schemas.openxmlformats.org/officeDocument/2006/relationships/notesMaster" Target="/ppt/notesMasters/notesMaster1.xml" Id="Rf6606122bdfb4b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Zhou, Grossman, and Ge (2023), Harvard Dataverse V1, doi:10.7910/DVN/TXSZDC. Independent selected replication and extension. See the research memo for scope.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Zhou, Grossman, and Ge (2023), Harvard Dataverse V1, doi:10.7910/DVN/TXSZDC. Independent selected replication and extension. See the research memo for scope.</a:t>
            </a:r>
          </a:p>
          <a:p xmlns:a="http://schemas.openxmlformats.org/drawingml/2006/main">
            <a:r>
              <a:t>Ask whether refugee-hosting and associated development responses improve services, and whether baseline access moderates the relationship. These are observational data, not randomized settlement placement.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Zhou, Grossman, and Ge (2023), Harvard Dataverse V1, doi:10.7910/DVN/TXSZDC. Independent selected replication and extension. See the research memo for scope.</a:t>
            </a:r>
          </a:p>
          <a:p xmlns:a="http://schemas.openxmlformats.org/drawingml/2006/main">
            <a:r>
              <a:t>All S16 coefficients, SEs, and sample sizes match at three-decimal precision. Each outcome has its own scale. Binary exposure is post-wave-specific, not fixed random treatment.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Zhou, Grossman, and Ge (2023), Harvard Dataverse V1, doi:10.7910/DVN/TXSZDC. Independent selected replication and extension. See the research memo for scope.</a:t>
            </a:r>
          </a:p>
          <a:p xmlns:a="http://schemas.openxmlformats.org/drawingml/2006/main">
            <a:r>
              <a:t>Original model uses continuous time-varying exposure plus wave interactions, parish and region-wave FE, and 13 baseline covariates interacted with wave. Parish-cluster CR1 avoids double-penalizing nested parish FE. Post-2011 contrasts use full covariance.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Zhou, Grossman, and Ge (2023), Harvard Dataverse V1, doi:10.7910/DVN/TXSZDC. Independent selected replication and extension. See the research memo for scope.</a:t>
            </a:r>
          </a:p>
          <a:p xmlns:a="http://schemas.openxmlformats.org/drawingml/2006/main">
            <a:r>
              <a:t>Baseline primary-school access split at 2.174 schools per thousand children in 2001. The threshold uses baseline-control-complete parishes before the radius. 2020 contrasts: above median 0.054605, CI 0.019359 to 0.089850; at/below median 0.027306, CI 0.008886 to 0.045726; difference -0.027299, CI -0.057537 to 0.002940, p=.076808.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Zhou, Grossman, and Ge (2023), Harvard Dataverse V1, doi:10.7910/DVN/TXSZDC. Independent selected replication and extension. See the research memo for scope.</a:t>
            </a:r>
          </a:p>
          <a:p xmlns:a="http://schemas.openxmlformats.org/drawingml/2006/main">
            <a:r>
              <a:t>Primary-school standardized variable has mean 0 and SD 1 within each wave, so inference concerns relative positions. Raw group difference -0.120324 schools per thousand children per SD presence, CI -0.216533 to -0.024114, p=.014252. Units and estimands differ; no multiple testing adjustment.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Zhou, Grossman, and Ge (2023), Harvard Dataverse V1, doi:10.7910/DVN/TXSZDC. Independent selected replication and extension. See the research memo for scope.</a:t>
            </a:r>
          </a:p>
          <a:p xmlns:a="http://schemas.openxmlformats.org/drawingml/2006/main">
            <a:r>
              <a:t>2020 minus 2011 continuous-model slope contrast. Primary estimates across 100/150/200km: .053502, .047906, .045824 with all intervals positive. Secondary: .032606,.024216,.018510; 200km interval crosses zero. Changing radius changes sampled population.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Zhou, Grossman, and Ge (2023), Harvard Dataverse V1, doi:10.7910/DVN/TXSZDC. Independent selected replication and extension. See the research memo for scope.</a:t>
            </a:r>
          </a:p>
          <a:p xmlns:a="http://schemas.openxmlformats.org/drawingml/2006/main">
            <a:r>
              <a:t>AI disclosure: OpenAI Codex assisted code, source inspection, drafting and checks. Executed Python produces estimates. No Claude Code use, human peer review, or faculty endorsement claimed. Completed: selected S16 reproduction, extension, geography, memo, 5 tests. Open: full R, spatial inference, primary records, public opinion and continuous-treatment diagnostics.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3e104c53b40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d270b838d840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c929f27e944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c33a961c04a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772651ecf42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10dfbb02c47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9C00D3-1833-46A5-9E24-CAA839632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8EDE3C-26CA-4444-9B31-F60313E028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3DA875-AC96-46D6-9A54-EAA744F91F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03CC0D-449B-4B93-BCA6-918385256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75F247-A437-416D-9003-CC67C3BA63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03B094-46E1-48A7-A2DB-8367E5330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96483B-A55B-4F92-9AF9-21333DFCF8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6F19C8-8463-482A-AF81-7989A53F00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F0C573-314D-4D39-8E86-AABA6BE63C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51AD55-0CFE-47F1-82D6-EB3782E4A8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43a973b0984b01" /><Relationship Type="http://schemas.openxmlformats.org/officeDocument/2006/relationships/slideLayout" Target="/ppt/slideLayouts/slideLayout1.xml" Id="Rd4f284e07e974554" /><Relationship Type="http://schemas.openxmlformats.org/officeDocument/2006/relationships/slideLayout" Target="/ppt/slideLayouts/slideLayout2.xml" Id="Rcb142ddbf7bc4ebf" /><Relationship Type="http://schemas.openxmlformats.org/officeDocument/2006/relationships/slideLayout" Target="/ppt/slideLayouts/slideLayout3.xml" Id="Re1509107741342ad" /><Relationship Type="http://schemas.openxmlformats.org/officeDocument/2006/relationships/slideLayout" Target="/ppt/slideLayouts/slideLayout4.xml" Id="R956be945e4c14dd8" /><Relationship Type="http://schemas.openxmlformats.org/officeDocument/2006/relationships/slideLayout" Target="/ppt/slideLayouts/slideLayout5.xml" Id="R2b90b807503d4abc" /><Relationship Type="http://schemas.openxmlformats.org/officeDocument/2006/relationships/slideLayout" Target="/ppt/slideLayouts/slideLayout6.xml" Id="Rfc827bfeb8f544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f284e07e974554"/>
    <p:sldLayoutId xmlns:r="http://schemas.openxmlformats.org/officeDocument/2006/relationships" id="2147483650" r:id="Rcb142ddbf7bc4ebf"/>
    <p:sldLayoutId xmlns:r="http://schemas.openxmlformats.org/officeDocument/2006/relationships" id="2147483651" r:id="Re1509107741342ad"/>
    <p:sldLayoutId xmlns:r="http://schemas.openxmlformats.org/officeDocument/2006/relationships" id="2147483652" r:id="R956be945e4c14dd8"/>
    <p:sldLayoutId xmlns:r="http://schemas.openxmlformats.org/officeDocument/2006/relationships" id="2147483653" r:id="R2b90b807503d4abc"/>
    <p:sldLayoutId xmlns:r="http://schemas.openxmlformats.org/officeDocument/2006/relationships" id="2147483654" r:id="Rfc827bfeb8f544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3a57fce7f48b5" /><Relationship Type="http://schemas.openxmlformats.org/officeDocument/2006/relationships/notesSlide" Target="/ppt/notesSlides/notesSlide1.xml" Id="Rcf8feadbe7f944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6f58a6bbf4ad0" /><Relationship Type="http://schemas.openxmlformats.org/officeDocument/2006/relationships/notesSlide" Target="/ppt/notesSlides/notesSlide2.xml" Id="R3dfae9e7c50e48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4423efb74040db" /><Relationship Type="http://schemas.openxmlformats.org/officeDocument/2006/relationships/chart" Target="/ppt/slides/charts/chart1.xml" Id="R35b5be9c2a134416" /><Relationship Type="http://schemas.openxmlformats.org/officeDocument/2006/relationships/notesSlide" Target="/ppt/notesSlides/notesSlide3.xml" Id="R86750e7fca3646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7dac654964882" /><Relationship Type="http://schemas.openxmlformats.org/officeDocument/2006/relationships/notesSlide" Target="/ppt/notesSlides/notesSlide4.xml" Id="Re7593e567c3644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e9afdbd2f4f48" /><Relationship Type="http://schemas.openxmlformats.org/officeDocument/2006/relationships/chart" Target="/ppt/slides/charts/chart2.xml" Id="R8b443c5607894966" /><Relationship Type="http://schemas.openxmlformats.org/officeDocument/2006/relationships/notesSlide" Target="/ppt/notesSlides/notesSlide5.xml" Id="Rea66cc842ef94c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d0ea396c0476a" /><Relationship Type="http://schemas.openxmlformats.org/officeDocument/2006/relationships/notesSlide" Target="/ppt/notesSlides/notesSlide6.xml" Id="R0d427bcd47b44d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e0d18315145e8" /><Relationship Type="http://schemas.openxmlformats.org/officeDocument/2006/relationships/chart" Target="/ppt/slides/charts/chart3.xml" Id="Rf8a8206e4112476f" /><Relationship Type="http://schemas.openxmlformats.org/officeDocument/2006/relationships/notesSlide" Target="/ppt/notesSlides/notesSlide7.xml" Id="R6d999e4e542248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5d1e793a44e51" /><Relationship Type="http://schemas.openxmlformats.org/officeDocument/2006/relationships/notesSlide" Target="/ppt/notesSlides/notesSlide8.xml" Id="R19551836802f447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Published S16</c:v>
          </c:tx>
          <c:spPr>
            <a:solidFill xmlns:a="http://schemas.openxmlformats.org/drawingml/2006/main">
              <a:srgbClr val="087B7E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Primary</c:v>
                </c:pt>
                <c:pt idx="1">
                  <c:v>Secondary</c:v>
                </c:pt>
                <c:pt idx="2">
                  <c:v>Roads</c:v>
                </c:pt>
                <c:pt idx="3">
                  <c:v>HC2</c:v>
                </c:pt>
                <c:pt idx="4">
                  <c:v>HC3</c:v>
                </c:pt>
                <c:pt idx="5">
                  <c:v>HC4</c:v>
                </c:pt>
                <c:pt idx="6">
                  <c:v>HC5</c:v>
                </c:pt>
                <c:pt idx="7">
                  <c:v>Index</c:v>
                </c:pt>
              </c:strCache>
            </c:strRef>
          </c:cat>
          <c:val>
            <c:numRef>
              <c:f>'Chart Data'!$B$2:$B$9</c:f>
              <c:numCache>
                <c:formatCode>0.000</c:formatCode>
                <c:ptCount val="8"/>
                <c:pt idx="0">
                  <c:v>0.058</c:v>
                </c:pt>
                <c:pt idx="1">
                  <c:v>-0.012</c:v>
                </c:pt>
                <c:pt idx="2">
                  <c:v>0.179</c:v>
                </c:pt>
                <c:pt idx="3">
                  <c:v>-0.16</c:v>
                </c:pt>
                <c:pt idx="4">
                  <c:v>0.11</c:v>
                </c:pt>
                <c:pt idx="5">
                  <c:v>-0.061</c:v>
                </c:pt>
                <c:pt idx="6">
                  <c:v>0.068</c:v>
                </c:pt>
                <c:pt idx="7">
                  <c:v>0.031</c:v>
                </c:pt>
              </c:numCache>
            </c:numRef>
          </c:val>
        </c:ser>
        <c:ser>
          <c:idx val="1"/>
          <c:order val="1"/>
          <c:tx>
            <c:v>Python reproduction</c:v>
          </c:tx>
          <c:spPr>
            <a:solidFill xmlns:a="http://schemas.openxmlformats.org/drawingml/2006/main">
              <a:srgbClr val="2F5D91"/>
            </a:solidFill>
          </c:spPr>
          <c:invertIfNegative val="0"/>
          <c:cat>
            <c:strRef>
              <c:f>'Chart Data'!$C$2:$C$9</c:f>
              <c:strCache>
                <c:ptCount val="8"/>
                <c:pt idx="0">
                  <c:v>Primary</c:v>
                </c:pt>
                <c:pt idx="1">
                  <c:v>Secondary</c:v>
                </c:pt>
                <c:pt idx="2">
                  <c:v>Roads</c:v>
                </c:pt>
                <c:pt idx="3">
                  <c:v>HC2</c:v>
                </c:pt>
                <c:pt idx="4">
                  <c:v>HC3</c:v>
                </c:pt>
                <c:pt idx="5">
                  <c:v>HC4</c:v>
                </c:pt>
                <c:pt idx="6">
                  <c:v>HC5</c:v>
                </c:pt>
                <c:pt idx="7">
                  <c:v>Index</c:v>
                </c:pt>
              </c:strCache>
            </c:strRef>
          </c:cat>
          <c:val>
            <c:numRef>
              <c:f>'Chart Data'!$D$2:$D$9</c:f>
              <c:numCache>
                <c:formatCode>0.000</c:formatCode>
                <c:ptCount val="8"/>
                <c:pt idx="0">
                  <c:v>0.057973</c:v>
                </c:pt>
                <c:pt idx="1">
                  <c:v>-0.011653</c:v>
                </c:pt>
                <c:pt idx="2">
                  <c:v>0.179052</c:v>
                </c:pt>
                <c:pt idx="3">
                  <c:v>-0.160318</c:v>
                </c:pt>
                <c:pt idx="4">
                  <c:v>0.109709</c:v>
                </c:pt>
                <c:pt idx="5">
                  <c:v>-0.060799</c:v>
                </c:pt>
                <c:pt idx="6">
                  <c:v>0.068004</c:v>
                </c:pt>
                <c:pt idx="7">
                  <c:v>0.030697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Archive outcome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Above median baseline access</c:v>
          </c:tx>
          <c:spPr>
            <a:solidFill xmlns:a="http://schemas.openxmlformats.org/drawingml/2006/main">
              <a:srgbClr val="2F5D91"/>
            </a:solidFill>
          </c:spPr>
          <c:cat>
            <c:strRef>
              <c:f>'Chart Data'!$A$2:$A$3</c:f>
              <c:strCache>
                <c:ptCount val="2"/>
                <c:pt idx="0">
                  <c:v>2016 vs 2011</c:v>
                </c:pt>
                <c:pt idx="1">
                  <c:v>2020 vs 2011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0.00838193</c:v>
                </c:pt>
                <c:pt idx="1">
                  <c:v>0.05460475</c:v>
                </c:pt>
              </c:numCache>
            </c:numRef>
          </c:val>
        </c:ser>
        <c:ser>
          <c:idx val="1"/>
          <c:order val="1"/>
          <c:tx>
            <c:v>At/below median baseline access</c:v>
          </c:tx>
          <c:spPr>
            <a:solidFill xmlns:a="http://schemas.openxmlformats.org/drawingml/2006/main">
              <a:srgbClr val="087B7E"/>
            </a:solidFill>
          </c:spPr>
          <c:cat>
            <c:strRef>
              <c:f>'Chart Data'!$C$2:$C$3</c:f>
              <c:strCache>
                <c:ptCount val="2"/>
                <c:pt idx="0">
                  <c:v>2016 vs 2011</c:v>
                </c:pt>
                <c:pt idx="1">
                  <c:v>2020 vs 2011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0.00403945</c:v>
                </c:pt>
                <c:pt idx="1">
                  <c:v>0.02730624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Primary-school exposure slope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Primary schools</c:v>
          </c:tx>
          <c:spPr>
            <a:solidFill xmlns:a="http://schemas.openxmlformats.org/drawingml/2006/main">
              <a:srgbClr val="087B7E"/>
            </a:solidFill>
          </c:spPr>
          <c:cat>
            <c:strRef>
              <c:f>'Chart Data'!$A$2:$A$4</c:f>
              <c:strCache>
                <c:ptCount val="3"/>
                <c:pt idx="0">
                  <c:v>100 km</c:v>
                </c:pt>
                <c:pt idx="1">
                  <c:v>150 km</c:v>
                </c:pt>
                <c:pt idx="2">
                  <c:v>200 km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0.05350209</c:v>
                </c:pt>
                <c:pt idx="1">
                  <c:v>0.04790624</c:v>
                </c:pt>
                <c:pt idx="2">
                  <c:v>0.04582411</c:v>
                </c:pt>
              </c:numCache>
            </c:numRef>
          </c:val>
        </c:ser>
        <c:ser>
          <c:idx val="1"/>
          <c:order val="1"/>
          <c:tx>
            <c:v>Secondary schools</c:v>
          </c:tx>
          <c:spPr>
            <a:solidFill xmlns:a="http://schemas.openxmlformats.org/drawingml/2006/main">
              <a:srgbClr val="2F5D91"/>
            </a:solidFill>
          </c:spPr>
          <c:cat>
            <c:strRef>
              <c:f>'Chart Data'!$C$2:$C$4</c:f>
              <c:strCache>
                <c:ptCount val="3"/>
                <c:pt idx="0">
                  <c:v>100 km</c:v>
                </c:pt>
                <c:pt idx="1">
                  <c:v>150 km</c:v>
                </c:pt>
                <c:pt idx="2">
                  <c:v>200 km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0.03260638</c:v>
                </c:pt>
                <c:pt idx="1">
                  <c:v>0.02421642</c:v>
                </c:pt>
                <c:pt idx="2">
                  <c:v>0.01851025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2020 minus 2011 exposure slope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CAE6D-3194-4DA9-9F66-9DE7D4D3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Refugee hosting and local development in Uganda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90153-927E-479D-B4D2-035F65F7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rPr>
              <a:t>Uganda refugee hosting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59FE7-1454-4592-AA0B-41C2CB38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95A8F-6F00-4368-B674-4990DFB1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7B7E"/>
                </a:solidFill>
                <a:latin typeface="DejaVu Sans"/>
                <a:ea typeface="DejaVu Sans"/>
                <a:cs typeface="DejaVu Sans"/>
              </a:rPr>
              <a:t>Selected replication and an exploratory</a:t>
            </a:r>
          </a:p>
          <a:p xmlns:a="http://schemas.openxmlformats.org/drawingml/2006/main">
            <a:pPr>
              <a:defRPr sz="3225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7B7E"/>
                </a:solidFill>
                <a:latin typeface="DejaVu Sans"/>
                <a:ea typeface="DejaVu Sans"/>
                <a:cs typeface="DejaVu Sans"/>
              </a:rPr>
              <a:t>baseline-access extension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B2ED4-1300-49F4-83AD-35336128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Prepared for Nicholas Reign Lugu</a:t>
            </a:r>
          </a:p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Research seminar • 8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60801-3A36-4491-B8DA-0A98E931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Independent research portfolio. No institutional affiliation or endorsement.</a:t>
            </a:r>
          </a:p>
        </p:txBody>
      </p:sp>
    </p:spTree>
    <p:extLst>
      <p:ext uri="{BB962C8B-B14F-4D97-AF65-F5344CB8AC3E}">
        <p14:creationId xmlns:p14="http://schemas.microsoft.com/office/powerpoint/2010/main" val="2103993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C7D54-47F1-49DA-8C89-A774208E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Research question and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BE0B3-F621-4300-89A0-7D5F0E8C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rPr>
              <a:t>Uganda refugee hosting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DE55C-2D96-4B71-858D-2BB8F0A3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B4028-58B4-4CE1-AC2A-043BFD1C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87B7E"/>
                </a:solidFill>
                <a:latin typeface="DejaVu Sans"/>
                <a:ea typeface="DejaVu Sans"/>
                <a:cs typeface="DejaVu Sans"/>
              </a:rPr>
              <a:t>How does the refugee-presence relationship with school access change over time?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161CC-1663-44FF-9A5A-F324D6A4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858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26,890 real parish-wave records across 5,378 parishes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Five waves: 2001, 2006, 2011, 2016, 2020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Main sample: 3,637 parishes within 150km of settlements active in 2001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Public source archive and original geographic identifiers</a:t>
            </a:r>
          </a:p>
        </p:txBody>
      </p:sp>
    </p:spTree>
    <p:extLst>
      <p:ext uri="{BB962C8B-B14F-4D97-AF65-F5344CB8AC3E}">
        <p14:creationId xmlns:p14="http://schemas.microsoft.com/office/powerpoint/2010/main" val="1616401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F6096-8889-4439-86EB-C5C5E625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Eight published estimates reproduce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BACBF-B04D-4002-BA5F-CBB4B1B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rPr>
              <a:t>Uganda refugee hosting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63E62-BEAE-413F-AA96-C51D886A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669CDB9-BE39-45E1-A3E4-89634B5DF133}"/>
              </a:ext>
            </a:extLst>
          </p:cNvPr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7632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b5be9c2a13441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A5664-1E32-48ED-AD95-ADAD4AB0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All eight clustered SEs and sample sizes agree. Scales differ across outcomes.</a:t>
            </a:r>
          </a:p>
        </p:txBody>
      </p:sp>
    </p:spTree>
    <p:extLst>
      <p:ext uri="{BB962C8B-B14F-4D97-AF65-F5344CB8AC3E}">
        <p14:creationId xmlns:p14="http://schemas.microsoft.com/office/powerpoint/2010/main" val="1839971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A5083-C3C9-4E1D-9371-FC1F80B9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Econometric model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3DFF5-9F99-4C38-BF17-9D658445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rPr>
              <a:t>Uganda refugee hosting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5468A-7436-4C08-99F1-27F6A01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32471-C7A6-49CB-AEAD-F6905A0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Parish and region-wave fixed effects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Time-varying transformed refugee presence and wave interactions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Thirteen baseline controls interacted with available waves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Parish-cluster inference with nested-effect correction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FC733-D7EA-4443-873D-6D08176D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B7E"/>
                </a:solidFill>
                <a:latin typeface="DejaVu Sans"/>
                <a:ea typeface="DejaVu Sans"/>
                <a:cs typeface="DejaVu Sans"/>
              </a:rPr>
              <a:t>Post-2011 contrasts describe changes in exposure slopes.</a:t>
            </a:r>
          </a:p>
          <a:p xmlns:a="http://schemas.openxmlformats.org/drawingml/2006/main">
            <a:pPr>
              <a:defRPr sz="2175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B7E"/>
                </a:solidFill>
                <a:latin typeface="DejaVu Sans"/>
                <a:ea typeface="DejaVu Sans"/>
                <a:cs typeface="DejaVu Sans"/>
              </a:rPr>
              <a:t>Causal interpretation depends on conditional trends and limited confounding.</a:t>
            </a:r>
          </a:p>
        </p:txBody>
      </p:sp>
    </p:spTree>
    <p:extLst>
      <p:ext uri="{BB962C8B-B14F-4D97-AF65-F5344CB8AC3E}">
        <p14:creationId xmlns:p14="http://schemas.microsoft.com/office/powerpoint/2010/main" val="562643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441CB-4B7D-4101-8136-145D481C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Baseline-access extension remains uncertain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49C59-A1BB-430A-B234-B1FB9447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rPr>
              <a:t>Uganda refugee hosting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1BDE8-2064-4EB0-A7CD-EAC8DCA8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5AB6D36-5C2E-4D84-87A1-6EBA0461C48D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443c560789496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4FF76-F544-4DB4-90A6-B6AA3864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2020 group difference: −0.027</a:t>
            </a:r>
          </a:p>
          <a:p xmlns:a="http://schemas.openxmlformats.org/drawingml/2006/main">
            <a:pPr>
              <a:defRPr sz="21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95% CI −0.058 to 0.003, p = 0.077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3451C-CE7A-4A4E-B659-0A793B02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Point estimates shown. The interval concerns the direct group difference.</a:t>
            </a:r>
          </a:p>
        </p:txBody>
      </p:sp>
    </p:spTree>
    <p:extLst>
      <p:ext uri="{BB962C8B-B14F-4D97-AF65-F5344CB8AC3E}">
        <p14:creationId xmlns:p14="http://schemas.microsoft.com/office/powerpoint/2010/main" val="11351956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E4E4B-C2A1-4C26-825B-7573FB5A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Outcome scaling changes the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FB627-96B0-4EA5-865B-F46B4DDF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rPr>
              <a:t>Uganda refugee hosting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D40C0-1CAB-48FF-A964-7D90E01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807E8-68A9-4AC3-B2EF-ED10FB88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B7E"/>
                </a:solidFill>
                <a:latin typeface="DejaVu Sans"/>
                <a:ea typeface="DejaVu Sans"/>
                <a:cs typeface="DejaVu Sans"/>
              </a:rPr>
              <a:t>Year-standardized primary-school 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6E11A-2087-4595-8576-EB6F74EB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Group difference: −0.027, with a 95% interval crossing zero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DED1C-29EF-47B6-BD42-221846C3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B7E"/>
                </a:solidFill>
                <a:latin typeface="DejaVu Sans"/>
                <a:ea typeface="DejaVu Sans"/>
                <a:cs typeface="DejaVu Sans"/>
              </a:rPr>
              <a:t>Raw schools per thousand children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D4E81-1E30-43A4-8AFA-0E944438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Group difference: −0.120</a:t>
            </a:r>
          </a:p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95% CI −0.217 to −0.024, p = 0.014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2FB12-9B52-471C-9790-5AEC9CAB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These estimates answer different questions. Heterogeneity is specification-sensitive.</a:t>
            </a:r>
          </a:p>
        </p:txBody>
      </p:sp>
    </p:spTree>
    <p:extLst>
      <p:ext uri="{BB962C8B-B14F-4D97-AF65-F5344CB8AC3E}">
        <p14:creationId xmlns:p14="http://schemas.microsoft.com/office/powerpoint/2010/main" val="856745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F3758-D244-4086-B83D-53196F8C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Radius checks support the primary-school contrast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3EEF6-7055-4027-AA2D-4538C3DE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rPr>
              <a:t>Uganda refugee hosting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8785F-E618-490C-86AA-8DC3D6A4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91D1275-CAB6-4D8D-A4EC-3614A197DE03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763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a8206e4112476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188E3-D05A-4658-90F5-79C1DD27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Primary-school 95% intervals remain positive at all radii.</a:t>
            </a:r>
          </a:p>
          <a:p xmlns:a="http://schemas.openxmlformats.org/drawingml/2006/main">
            <a:pPr>
              <a:defRPr sz="2025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Secondary-school uncertainty increases at 200km.</a:t>
            </a:r>
          </a:p>
        </p:txBody>
      </p:sp>
    </p:spTree>
    <p:extLst>
      <p:ext uri="{BB962C8B-B14F-4D97-AF65-F5344CB8AC3E}">
        <p14:creationId xmlns:p14="http://schemas.microsoft.com/office/powerpoint/2010/main" val="1369334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D1453-AE19-468A-849A-D83AE579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Research limits and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BA5EC-8F4A-4924-9E24-4C65C687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37982"/>
                </a:solidFill>
                <a:latin typeface="DejaVu Sans"/>
                <a:ea typeface="DejaVu Sans"/>
                <a:cs typeface="DejaVu Sans"/>
              </a:rPr>
              <a:t>Uganda refugee hosting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6FA92-870E-453F-B5D8-D1C38356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60942-BE97-4E40-BE85-155B5440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763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Settlement location is observational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Hosting, humanitarian aid, and policy responses occur together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Spatial dependence and changing outcome scales need further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Public-opinion and full original-R replication remain open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06DB3-566F-4B5B-8761-9036DB58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87B7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87B7E"/>
                </a:solidFill>
                <a:latin typeface="DejaVu Sans"/>
                <a:ea typeface="DejaVu Sans"/>
                <a:cs typeface="DejaVu Sans"/>
              </a:rPr>
              <a:t>Discussion: Which estimand best answers the policy question?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BB47F-7BDC-414A-9D49-380992D3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A4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A49"/>
                </a:solidFill>
                <a:latin typeface="DejaVu Sans"/>
                <a:ea typeface="DejaVu Sans"/>
                <a:cs typeface="DejaVu Sans"/>
              </a:rPr>
              <a:t>Code and results are reproducible. Codex assistance is disclosed.</a:t>
            </a:r>
          </a:p>
        </p:txBody>
      </p:sp>
    </p:spTree>
    <p:extLst>
      <p:ext uri="{BB962C8B-B14F-4D97-AF65-F5344CB8AC3E}">
        <p14:creationId xmlns:p14="http://schemas.microsoft.com/office/powerpoint/2010/main" val="942702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2026-10-08T16:26:31.1510000Z</dcterms:created>
  <dcterms:modified xsi:type="dcterms:W3CDTF">2026-10-08T16:26:31.1510000Z</dcterms:modified>
</coreProperties>
</file>